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custDataLst>
    <p:tags r:id="rId1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EB9D9-BC61-4754-AACF-088F03F3F720}" v="24" dt="2026-07-14T20:58:03.3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MAR Saturnino César F120138" userId="9be05441-e86d-4ce2-802e-a6e34d6570f3" providerId="ADAL" clId="{1E8EB9D9-BC61-4754-AACF-088F03F3F720}"/>
    <pc:docChg chg="custSel modSld">
      <pc:chgData name="EDMAR Saturnino César F120138" userId="9be05441-e86d-4ce2-802e-a6e34d6570f3" providerId="ADAL" clId="{1E8EB9D9-BC61-4754-AACF-088F03F3F720}" dt="2026-07-14T20:59:35.632" v="44" actId="478"/>
      <pc:docMkLst>
        <pc:docMk/>
      </pc:docMkLst>
      <pc:sldChg chg="addSp delSp modSp mod">
        <pc:chgData name="EDMAR Saturnino César F120138" userId="9be05441-e86d-4ce2-802e-a6e34d6570f3" providerId="ADAL" clId="{1E8EB9D9-BC61-4754-AACF-088F03F3F720}" dt="2026-07-14T20:58:20.247" v="41" actId="1076"/>
        <pc:sldMkLst>
          <pc:docMk/>
          <pc:sldMk cId="0" sldId="256"/>
        </pc:sldMkLst>
        <pc:spChg chg="del">
          <ac:chgData name="EDMAR Saturnino César F120138" userId="9be05441-e86d-4ce2-802e-a6e34d6570f3" providerId="ADAL" clId="{1E8EB9D9-BC61-4754-AACF-088F03F3F720}" dt="2026-07-14T20:58:09.912" v="36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EDMAR Saturnino César F120138" userId="9be05441-e86d-4ce2-802e-a6e34d6570f3" providerId="ADAL" clId="{1E8EB9D9-BC61-4754-AACF-088F03F3F720}" dt="2026-07-14T20:51:29.419" v="17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EDMAR Saturnino César F120138" userId="9be05441-e86d-4ce2-802e-a6e34d6570f3" providerId="ADAL" clId="{1E8EB9D9-BC61-4754-AACF-088F03F3F720}" dt="2026-07-14T20:51:29.419" v="17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EDMAR Saturnino César F120138" userId="9be05441-e86d-4ce2-802e-a6e34d6570f3" providerId="ADAL" clId="{1E8EB9D9-BC61-4754-AACF-088F03F3F720}" dt="2026-07-14T20:51:41.776" v="21" actId="478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EDMAR Saturnino César F120138" userId="9be05441-e86d-4ce2-802e-a6e34d6570f3" providerId="ADAL" clId="{1E8EB9D9-BC61-4754-AACF-088F03F3F720}" dt="2026-07-14T20:51:41.169" v="20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EDMAR Saturnino César F120138" userId="9be05441-e86d-4ce2-802e-a6e34d6570f3" providerId="ADAL" clId="{1E8EB9D9-BC61-4754-AACF-088F03F3F720}" dt="2026-07-14T20:51:57.549" v="26" actId="20577"/>
          <ac:spMkLst>
            <pc:docMk/>
            <pc:sldMk cId="0" sldId="256"/>
            <ac:spMk id="11" creationId="{00000000-0000-0000-0000-000000000000}"/>
          </ac:spMkLst>
        </pc:spChg>
        <pc:spChg chg="del">
          <ac:chgData name="EDMAR Saturnino César F120138" userId="9be05441-e86d-4ce2-802e-a6e34d6570f3" providerId="ADAL" clId="{1E8EB9D9-BC61-4754-AACF-088F03F3F720}" dt="2026-07-14T20:58:13.169" v="38" actId="478"/>
          <ac:spMkLst>
            <pc:docMk/>
            <pc:sldMk cId="0" sldId="256"/>
            <ac:spMk id="14" creationId="{00000000-0000-0000-0000-000000000000}"/>
          </ac:spMkLst>
        </pc:spChg>
        <pc:spChg chg="add mod">
          <ac:chgData name="EDMAR Saturnino César F120138" userId="9be05441-e86d-4ce2-802e-a6e34d6570f3" providerId="ADAL" clId="{1E8EB9D9-BC61-4754-AACF-088F03F3F720}" dt="2026-07-14T20:51:49.985" v="23" actId="1076"/>
          <ac:spMkLst>
            <pc:docMk/>
            <pc:sldMk cId="0" sldId="256"/>
            <ac:spMk id="17" creationId="{1236ABF5-1CF6-D3B0-53BA-71088339D3DF}"/>
          </ac:spMkLst>
        </pc:spChg>
        <pc:spChg chg="add mod">
          <ac:chgData name="EDMAR Saturnino César F120138" userId="9be05441-e86d-4ce2-802e-a6e34d6570f3" providerId="ADAL" clId="{1E8EB9D9-BC61-4754-AACF-088F03F3F720}" dt="2026-07-14T20:51:49.985" v="23" actId="1076"/>
          <ac:spMkLst>
            <pc:docMk/>
            <pc:sldMk cId="0" sldId="256"/>
            <ac:spMk id="18" creationId="{694EA544-DFD8-A408-07B1-C69939414CAB}"/>
          </ac:spMkLst>
        </pc:spChg>
        <pc:picChg chg="del">
          <ac:chgData name="EDMAR Saturnino César F120138" userId="9be05441-e86d-4ce2-802e-a6e34d6570f3" providerId="ADAL" clId="{1E8EB9D9-BC61-4754-AACF-088F03F3F720}" dt="2026-07-14T20:50:40.524" v="1" actId="478"/>
          <ac:picMkLst>
            <pc:docMk/>
            <pc:sldMk cId="0" sldId="256"/>
            <ac:picMk id="7" creationId="{00000000-0000-0000-0000-000000000000}"/>
          </ac:picMkLst>
        </pc:picChg>
        <pc:picChg chg="del">
          <ac:chgData name="EDMAR Saturnino César F120138" userId="9be05441-e86d-4ce2-802e-a6e34d6570f3" providerId="ADAL" clId="{1E8EB9D9-BC61-4754-AACF-088F03F3F720}" dt="2026-07-14T20:50:42.885" v="2" actId="478"/>
          <ac:picMkLst>
            <pc:docMk/>
            <pc:sldMk cId="0" sldId="256"/>
            <ac:picMk id="8" creationId="{00000000-0000-0000-0000-000000000000}"/>
          </ac:picMkLst>
        </pc:picChg>
        <pc:picChg chg="add mod">
          <ac:chgData name="EDMAR Saturnino César F120138" userId="9be05441-e86d-4ce2-802e-a6e34d6570f3" providerId="ADAL" clId="{1E8EB9D9-BC61-4754-AACF-088F03F3F720}" dt="2026-07-14T20:58:20.247" v="41" actId="1076"/>
          <ac:picMkLst>
            <pc:docMk/>
            <pc:sldMk cId="0" sldId="256"/>
            <ac:picMk id="20" creationId="{EAF8A372-B87B-AF26-6E87-52CAA9462518}"/>
          </ac:picMkLst>
        </pc:picChg>
        <pc:picChg chg="add mod">
          <ac:chgData name="EDMAR Saturnino César F120138" userId="9be05441-e86d-4ce2-802e-a6e34d6570f3" providerId="ADAL" clId="{1E8EB9D9-BC61-4754-AACF-088F03F3F720}" dt="2026-07-14T20:52:12.666" v="28" actId="14100"/>
          <ac:picMkLst>
            <pc:docMk/>
            <pc:sldMk cId="0" sldId="256"/>
            <ac:picMk id="1026" creationId="{805EB9CE-D292-A625-C848-C4767C60B367}"/>
          </ac:picMkLst>
        </pc:picChg>
      </pc:sldChg>
      <pc:sldChg chg="delSp mod">
        <pc:chgData name="EDMAR Saturnino César F120138" userId="9be05441-e86d-4ce2-802e-a6e34d6570f3" providerId="ADAL" clId="{1E8EB9D9-BC61-4754-AACF-088F03F3F720}" dt="2026-07-14T20:58:44.813" v="42" actId="478"/>
        <pc:sldMkLst>
          <pc:docMk/>
          <pc:sldMk cId="0" sldId="257"/>
        </pc:sldMkLst>
        <pc:spChg chg="del">
          <ac:chgData name="EDMAR Saturnino César F120138" userId="9be05441-e86d-4ce2-802e-a6e34d6570f3" providerId="ADAL" clId="{1E8EB9D9-BC61-4754-AACF-088F03F3F720}" dt="2026-07-14T20:58:44.813" v="42" actId="478"/>
          <ac:spMkLst>
            <pc:docMk/>
            <pc:sldMk cId="0" sldId="257"/>
            <ac:spMk id="30" creationId="{00000000-0000-0000-0000-000000000000}"/>
          </ac:spMkLst>
        </pc:spChg>
      </pc:sldChg>
      <pc:sldChg chg="delSp mod">
        <pc:chgData name="EDMAR Saturnino César F120138" userId="9be05441-e86d-4ce2-802e-a6e34d6570f3" providerId="ADAL" clId="{1E8EB9D9-BC61-4754-AACF-088F03F3F720}" dt="2026-07-14T20:59:35.632" v="44" actId="478"/>
        <pc:sldMkLst>
          <pc:docMk/>
          <pc:sldMk cId="0" sldId="265"/>
        </pc:sldMkLst>
        <pc:spChg chg="del">
          <ac:chgData name="EDMAR Saturnino César F120138" userId="9be05441-e86d-4ce2-802e-a6e34d6570f3" providerId="ADAL" clId="{1E8EB9D9-BC61-4754-AACF-088F03F3F720}" dt="2026-07-14T20:59:35.632" v="44" actId="478"/>
          <ac:spMkLst>
            <pc:docMk/>
            <pc:sldMk cId="0" sldId="265"/>
            <ac:spMk id="28" creationId="{00000000-0000-0000-0000-000000000000}"/>
          </ac:spMkLst>
        </pc:spChg>
        <pc:spChg chg="del">
          <ac:chgData name="EDMAR Saturnino César F120138" userId="9be05441-e86d-4ce2-802e-a6e34d6570f3" providerId="ADAL" clId="{1E8EB9D9-BC61-4754-AACF-088F03F3F720}" dt="2026-07-14T20:59:34.516" v="43" actId="478"/>
          <ac:spMkLst>
            <pc:docMk/>
            <pc:sldMk cId="0" sldId="265"/>
            <ac:spMk id="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11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Apresentamos um modelo de apoio à classificação da qualidade de vinhos a partir de características físico-químicas. A proposta não substitui a avaliação sensorial: ela antecipa sinais e ajuda a priorizar quais lotes merecem atenção dos especialistas.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de negócio é simples: como usar informações já disponíveis na produção para antecipar a qualidade? A resposta proposta é um modelo que transforma medidas físico-químicas em uma probabilidade. O resultado serve como filtro de apoio, e não como decisão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base começou com 1.143 registros e ficou com 1.018 após a remoção de duplicidades. Não havia valores ausentes. Foram usadas 11 características físico-químicas e a regra de negócio definida no desafio: alta qualidade significa nota igual ou superior a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dado mais importante da análise exploratória é o desbalanceamento: apenas 13,46% dos vinhos estão na classe de alta qualidade. Isso muda a forma de avaliar o modelo. Um resultado aparentemente alto de acurácia poderia apenas repetir a classe majoritária.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exploratória mostrou uma associação positiva mais forte do teor alcoólico com a alta qualidade. Em sentido negativo, a acidez volátil e a densidade chamaram atenção. Essas relações orientam a modelagem, mas não significam que alterar isoladamente uma variável cause aumento de qualidade.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comparação confirmou por que não usamos apenas acurácia. O baseline chegou a 86,5%, mas não reconheceu nenhum vinho de alta qualidade. A Regressão Logística foi escolhida porque encontrou melhor equilíbrio e maior capacidade de identificar a classe rara.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conjunto de teste, o modelo alcançou AUC de 88,11% e recall de 77,78%. O desempenho ficou próximo ao observado na validação, o que indica estabilidade. A precisão de 36,21% mostra que há falsos alertas; por isso, o uso recomendado é triagem com revisão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termos concretos, havia 27 vinhos de alta qualidade no teste. O modelo encontrou 21 e deixou de identificar 6. Também sinalizou 37 vinhos de baixa ou média qualidade. Esse perfil é útil para triagem: reduz o risco de perder lotes promissores, mas exige confirmação posterior.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atribuiu maior associação positiva ao teor alcoólico, aos sulfatos e à acidez fixa. Densidade, dióxido de enxofre total e acidez volátil aparecem em sentido negativo. Esses sinais apoiam investigação, mas não justificam mudanças isoladas no processo produtivo sem validação enológica.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Nossa recomendação é um piloto em três etapas: triagem automática, confirmação sensorial e aprendizado contínuo com novos lotes. O modelo já mostra potencial, mas deve ser validado em mais dados e enriquecido com informações de safra, região, variedade de uva e processo produtivo.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41F3C"/>
          </a:solidFill>
          <a:ln w="12700">
            <a:solidFill>
              <a:srgbClr val="74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56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CHALLENGE - FASE 2  |  DATA ANALYTICS - FIAP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2560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6D7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2560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6D7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aturninoRM372790/Tech-challenge_fase2_vinhos_EDMAR_SUELL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564727" y="-411480"/>
            <a:ext cx="2286000" cy="2286000"/>
          </a:xfrm>
          <a:prstGeom prst="ellipse">
            <a:avLst/>
          </a:prstGeom>
          <a:solidFill>
            <a:srgbClr val="741F3C">
              <a:alpha val="65000"/>
            </a:srgbClr>
          </a:solidFill>
          <a:ln w="12700">
            <a:solidFill>
              <a:srgbClr val="741F3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936327" y="594360"/>
            <a:ext cx="1371600" cy="1371600"/>
          </a:xfrm>
          <a:prstGeom prst="ellipse">
            <a:avLst/>
          </a:prstGeom>
          <a:solidFill>
            <a:srgbClr val="C47A8A">
              <a:alpha val="50000"/>
            </a:srgbClr>
          </a:solidFill>
          <a:ln w="12700">
            <a:solidFill>
              <a:srgbClr val="C47A8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640080" y="1115568"/>
            <a:ext cx="1143000" cy="0"/>
          </a:xfrm>
          <a:prstGeom prst="line">
            <a:avLst/>
          </a:prstGeom>
          <a:noFill/>
          <a:ln w="50800">
            <a:solidFill>
              <a:srgbClr val="C29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640080" y="1389888"/>
            <a:ext cx="7040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CLASSIFICAÇÃO DA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QUALIDADE DE VINHOS</a:t>
            </a:r>
            <a:endParaRPr lang="en-US" sz="3100" dirty="0"/>
          </a:p>
        </p:txBody>
      </p:sp>
      <p:sp>
        <p:nvSpPr>
          <p:cNvPr id="11" name="Text 7"/>
          <p:cNvSpPr/>
          <p:nvPr/>
        </p:nvSpPr>
        <p:spPr>
          <a:xfrm>
            <a:off x="658368" y="303580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EDDE2"/>
                </a:solidFill>
              </a:rPr>
              <a:t>Como dados físico-químicos podem apoiar a </a:t>
            </a:r>
            <a:r>
              <a:rPr lang="en-US" sz="1600" dirty="0" err="1">
                <a:solidFill>
                  <a:srgbClr val="EEDDE2"/>
                </a:solidFill>
              </a:rPr>
              <a:t>triagem</a:t>
            </a:r>
            <a:r>
              <a:rPr lang="en-US" sz="1600" dirty="0">
                <a:solidFill>
                  <a:srgbClr val="EEDDE2"/>
                </a:solidFill>
              </a:rPr>
              <a:t> e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EEDDE2"/>
                </a:solidFill>
              </a:rPr>
              <a:t> o controle de qualidade?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58368" y="3977640"/>
            <a:ext cx="2148840" cy="310896"/>
          </a:xfrm>
          <a:prstGeom prst="roundRect">
            <a:avLst>
              <a:gd name="adj" fmla="val 47059"/>
            </a:avLst>
          </a:prstGeom>
          <a:solidFill>
            <a:srgbClr val="741F3C"/>
          </a:solidFill>
          <a:ln w="12700">
            <a:solidFill>
              <a:srgbClr val="741F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731520" y="402336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TECH CHALLENGE - FASE 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58368" y="4956048"/>
            <a:ext cx="4846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EDDE2"/>
                </a:solidFill>
              </a:rPr>
              <a:t>Edmar Saturnino César - RM372790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EDDE2"/>
                </a:solidFill>
              </a:rPr>
              <a:t>Francisca Suellen Soares Barros - RM372732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658368" y="6126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7A8A"/>
                </a:solidFill>
              </a:rPr>
              <a:t>Julho de 2026</a:t>
            </a:r>
            <a:endParaRPr lang="en-US" sz="95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1236ABF5-1CF6-D3B0-53BA-71088339D3DF}"/>
              </a:ext>
            </a:extLst>
          </p:cNvPr>
          <p:cNvSpPr/>
          <p:nvPr/>
        </p:nvSpPr>
        <p:spPr>
          <a:xfrm>
            <a:off x="9923208" y="3493008"/>
            <a:ext cx="2286000" cy="2286000"/>
          </a:xfrm>
          <a:prstGeom prst="ellipse">
            <a:avLst/>
          </a:prstGeom>
          <a:solidFill>
            <a:srgbClr val="741F3C">
              <a:alpha val="65000"/>
            </a:srgbClr>
          </a:solidFill>
          <a:ln w="12700">
            <a:solidFill>
              <a:srgbClr val="741F3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694EA544-DFD8-A408-07B1-C69939414CAB}"/>
              </a:ext>
            </a:extLst>
          </p:cNvPr>
          <p:cNvSpPr/>
          <p:nvPr/>
        </p:nvSpPr>
        <p:spPr>
          <a:xfrm>
            <a:off x="11294808" y="4498848"/>
            <a:ext cx="1371600" cy="1371600"/>
          </a:xfrm>
          <a:prstGeom prst="ellipse">
            <a:avLst/>
          </a:prstGeom>
          <a:solidFill>
            <a:srgbClr val="C47A8A">
              <a:alpha val="50000"/>
            </a:srgbClr>
          </a:solidFill>
          <a:ln w="12700">
            <a:solidFill>
              <a:srgbClr val="C47A8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26" name="Picture 2" descr="Imagem gerada com IA">
            <a:extLst>
              <a:ext uri="{FF2B5EF4-FFF2-40B4-BE49-F238E27FC236}">
                <a16:creationId xmlns:a16="http://schemas.microsoft.com/office/drawing/2014/main" id="{805EB9CE-D292-A625-C848-C4767C60B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C0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840" y="1611699"/>
            <a:ext cx="5582882" cy="304514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EAF8A372-B87B-AF26-6E87-52CAA946251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2071" y="4590886"/>
            <a:ext cx="2784266" cy="2968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A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desafio: antecipar qualidade sem substituir especialistas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756D70"/>
                </a:solidFill>
              </a:rPr>
              <a:t>A avaliação sensorial é essencial, mas pode ser subjetiva e demandar tempo.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2871216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691640" y="1810512"/>
            <a:ext cx="804672" cy="804672"/>
          </a:xfrm>
          <a:prstGeom prst="ellipse">
            <a:avLst/>
          </a:prstGeom>
          <a:solidFill>
            <a:srgbClr val="C47A8A"/>
          </a:solidFill>
          <a:ln w="12700">
            <a:solidFill>
              <a:srgbClr val="C47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691640" y="194767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81635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1024"/>
                </a:solidFill>
              </a:rPr>
              <a:t>Dados físico-químicos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0976" y="3273552"/>
            <a:ext cx="22860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0282B"/>
                </a:solidFill>
              </a:rPr>
              <a:t>11 características obtidas durante o processo produtivo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1188720" y="4005072"/>
            <a:ext cx="1810512" cy="310896"/>
          </a:xfrm>
          <a:prstGeom prst="roundRect">
            <a:avLst>
              <a:gd name="adj" fmla="val 47059"/>
            </a:avLst>
          </a:prstGeom>
          <a:solidFill>
            <a:srgbClr val="F7F1F3"/>
          </a:solidFill>
          <a:ln w="12700">
            <a:solidFill>
              <a:srgbClr val="F7F1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261872" y="405079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7A8A"/>
                </a:solidFill>
              </a:rPr>
              <a:t>pH  •  SO₂  •  álcool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87952" y="1572768"/>
            <a:ext cx="2871216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221224" y="1810512"/>
            <a:ext cx="804672" cy="804672"/>
          </a:xfrm>
          <a:prstGeom prst="ellipse">
            <a:avLst/>
          </a:prstGeom>
          <a:solidFill>
            <a:srgbClr val="725482"/>
          </a:solidFill>
          <a:ln w="12700">
            <a:solidFill>
              <a:srgbClr val="7254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221224" y="194767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43984" y="281635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1024"/>
                </a:solidFill>
              </a:rPr>
              <a:t>Modelo de classificação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3273552"/>
            <a:ext cx="22860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0282B"/>
                </a:solidFill>
              </a:rPr>
              <a:t>Probabilidade de o vinho alcançar nota 7 ou superior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718304" y="4005072"/>
            <a:ext cx="1810512" cy="310896"/>
          </a:xfrm>
          <a:prstGeom prst="roundRect">
            <a:avLst>
              <a:gd name="adj" fmla="val 47059"/>
            </a:avLst>
          </a:prstGeom>
          <a:solidFill>
            <a:srgbClr val="F7F1F3"/>
          </a:solidFill>
          <a:ln w="12700">
            <a:solidFill>
              <a:srgbClr val="F7F1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91456" y="405079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25482"/>
                </a:solidFill>
              </a:rPr>
              <a:t>0  →  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17536" y="1572768"/>
            <a:ext cx="2871216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750808" y="1810512"/>
            <a:ext cx="804672" cy="804672"/>
          </a:xfrm>
          <a:prstGeom prst="ellipse">
            <a:avLst/>
          </a:prstGeom>
          <a:solidFill>
            <a:srgbClr val="741F3C"/>
          </a:solidFill>
          <a:ln w="12700">
            <a:solidFill>
              <a:srgbClr val="741F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750808" y="194767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973568" y="281635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1024"/>
                </a:solidFill>
              </a:rPr>
              <a:t>Apoio à decisão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10144" y="3273552"/>
            <a:ext cx="22860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0282B"/>
                </a:solidFill>
              </a:rPr>
              <a:t>Triagem de lotes e priorização da avaliação sensorial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8247888" y="4005072"/>
            <a:ext cx="1810512" cy="310896"/>
          </a:xfrm>
          <a:prstGeom prst="roundRect">
            <a:avLst>
              <a:gd name="adj" fmla="val 47059"/>
            </a:avLst>
          </a:prstGeom>
          <a:solidFill>
            <a:srgbClr val="F7F1F3"/>
          </a:solidFill>
          <a:ln w="12700">
            <a:solidFill>
              <a:srgbClr val="F7F1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321040" y="405079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41F3C"/>
                </a:solidFill>
              </a:rPr>
              <a:t>Revisar  •  priorizar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39312" y="2898648"/>
            <a:ext cx="402336" cy="0"/>
          </a:xfrm>
          <a:prstGeom prst="line">
            <a:avLst/>
          </a:prstGeom>
          <a:noFill/>
          <a:ln w="31750">
            <a:solidFill>
              <a:srgbClr val="C29A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168896" y="2898648"/>
            <a:ext cx="402336" cy="0"/>
          </a:xfrm>
          <a:prstGeom prst="line">
            <a:avLst/>
          </a:prstGeom>
          <a:noFill/>
          <a:ln w="31750">
            <a:solidFill>
              <a:srgbClr val="C29A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298448" y="4864608"/>
            <a:ext cx="9601200" cy="960120"/>
          </a:xfrm>
          <a:prstGeom prst="roundRect">
            <a:avLst>
              <a:gd name="adj" fmla="val 7619"/>
            </a:avLst>
          </a:prstGeom>
          <a:solidFill>
            <a:srgbClr val="4A1024"/>
          </a:solidFill>
          <a:ln w="12700">
            <a:solidFill>
              <a:srgbClr val="4A10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627632" y="5093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9A4A"/>
                </a:solidFill>
              </a:rPr>
              <a:t>Pergunta central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054096" y="5010912"/>
            <a:ext cx="7296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É possível identificar a maior parte dos vinhos de alta qualidade usando apenas medidas físico-químicas?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2560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6D7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A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Dados consistentes e prontos para modelagem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756D70"/>
                </a:solidFill>
              </a:rPr>
              <a:t>A preparação preservou a diversidade da base e evitou vazamento de informação.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46177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9264" y="1709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1024"/>
                </a:solidFill>
              </a:rPr>
              <a:t>Jornada da base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24128" y="2212848"/>
            <a:ext cx="3429000" cy="530352"/>
          </a:xfrm>
          <a:prstGeom prst="roundRect">
            <a:avLst>
              <a:gd name="adj" fmla="val 13793"/>
            </a:avLst>
          </a:prstGeom>
          <a:solidFill>
            <a:srgbClr val="C47A8A"/>
          </a:solidFill>
          <a:ln w="12700">
            <a:solidFill>
              <a:srgbClr val="C47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70432" y="22860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1.143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65960" y="2322576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FFFFF"/>
                </a:solidFill>
              </a:rPr>
              <a:t>registros originais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024128" y="2999232"/>
            <a:ext cx="2971800" cy="530352"/>
          </a:xfrm>
          <a:prstGeom prst="roundRect">
            <a:avLst>
              <a:gd name="adj" fmla="val 13793"/>
            </a:avLst>
          </a:prstGeom>
          <a:solidFill>
            <a:srgbClr val="741F3C"/>
          </a:solidFill>
          <a:ln w="12700">
            <a:solidFill>
              <a:srgbClr val="741F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70432" y="30723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1.018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65960" y="3108960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FFFFF"/>
                </a:solidFill>
              </a:rPr>
              <a:t>registros após duplicidades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1024128" y="3785616"/>
            <a:ext cx="2423160" cy="530352"/>
          </a:xfrm>
          <a:prstGeom prst="roundRect">
            <a:avLst>
              <a:gd name="adj" fmla="val 13793"/>
            </a:avLst>
          </a:prstGeom>
          <a:solidFill>
            <a:srgbClr val="725482"/>
          </a:solidFill>
          <a:ln w="12700">
            <a:solidFill>
              <a:srgbClr val="7254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170432" y="3858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65960" y="389534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FFFFF"/>
                </a:solidFill>
              </a:rPr>
              <a:t>variáveis físico-químicas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1024128" y="4572000"/>
            <a:ext cx="1874520" cy="530352"/>
          </a:xfrm>
          <a:prstGeom prst="roundRect">
            <a:avLst>
              <a:gd name="adj" fmla="val 13793"/>
            </a:avLst>
          </a:prstGeom>
          <a:solidFill>
            <a:srgbClr val="C29A4A">
              <a:alpha val="90000"/>
            </a:srgbClr>
          </a:solidFill>
          <a:ln w="12700">
            <a:solidFill>
              <a:srgbClr val="C29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70432" y="46451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65960" y="4681728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FFFFFF"/>
                </a:solidFill>
              </a:rPr>
              <a:t>valores nulos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1024128" y="5440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41F3C"/>
                </a:solidFill>
              </a:rPr>
              <a:t>Outliers foram mantidos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61488" y="5376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756D70"/>
                </a:solidFill>
              </a:rPr>
              <a:t>Podem representar amostras legítimas e não erros de medição.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559552" y="1417320"/>
            <a:ext cx="5971032" cy="1938528"/>
          </a:xfrm>
          <a:prstGeom prst="roundRect">
            <a:avLst>
              <a:gd name="adj" fmla="val 3774"/>
            </a:avLst>
          </a:prstGeom>
          <a:solidFill>
            <a:srgbClr val="4A1024"/>
          </a:solidFill>
          <a:ln w="12700">
            <a:solidFill>
              <a:srgbClr val="4A1024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925312" y="17190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29A4A"/>
                </a:solidFill>
              </a:rPr>
              <a:t>VARIÁVEL-ALVO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25312" y="20848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Alta qualidade = nota ≥ 7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925312" y="2679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EDDE2"/>
                </a:solidFill>
              </a:rPr>
              <a:t>Baixa/média qualidade = nota &lt; 7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378440" y="1965960"/>
            <a:ext cx="658368" cy="658368"/>
          </a:xfrm>
          <a:prstGeom prst="ellipse">
            <a:avLst/>
          </a:prstGeom>
          <a:solidFill>
            <a:srgbClr val="C47A8A"/>
          </a:solidFill>
          <a:ln w="12700">
            <a:solidFill>
              <a:srgbClr val="C47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378440" y="213969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59552" y="3584448"/>
            <a:ext cx="5971032" cy="2359152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888736" y="3858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1024"/>
                </a:solidFill>
              </a:rPr>
              <a:t>Características consideradas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5888736" y="4370832"/>
            <a:ext cx="1083564" cy="310896"/>
          </a:xfrm>
          <a:prstGeom prst="roundRect">
            <a:avLst>
              <a:gd name="adj" fmla="val 47059"/>
            </a:avLst>
          </a:prstGeom>
          <a:solidFill>
            <a:srgbClr val="F1E7EA"/>
          </a:solidFill>
          <a:ln w="12700">
            <a:solidFill>
              <a:srgbClr val="F1E7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961888" y="4416552"/>
            <a:ext cx="9372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41F3C"/>
                </a:solidFill>
              </a:rPr>
              <a:t>Acidez fixa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82028" y="437083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F7F1F3"/>
          </a:solidFill>
          <a:ln w="12700">
            <a:solidFill>
              <a:srgbClr val="F7F1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155180" y="4416552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25482"/>
                </a:solidFill>
              </a:rPr>
              <a:t>Acidez volátil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426196" y="4370832"/>
            <a:ext cx="1184148" cy="310896"/>
          </a:xfrm>
          <a:prstGeom prst="roundRect">
            <a:avLst>
              <a:gd name="adj" fmla="val 47059"/>
            </a:avLst>
          </a:prstGeom>
          <a:solidFill>
            <a:srgbClr val="F7F1F3"/>
          </a:solidFill>
          <a:ln w="12700">
            <a:solidFill>
              <a:srgbClr val="F7F1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499348" y="4416552"/>
            <a:ext cx="10378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25482"/>
                </a:solidFill>
              </a:rPr>
              <a:t>Ácido cítrico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720072" y="4370832"/>
            <a:ext cx="1284732" cy="310896"/>
          </a:xfrm>
          <a:prstGeom prst="roundRect">
            <a:avLst>
              <a:gd name="adj" fmla="val 47059"/>
            </a:avLst>
          </a:prstGeom>
          <a:solidFill>
            <a:srgbClr val="F1E7EA"/>
          </a:solidFill>
          <a:ln w="12700">
            <a:solidFill>
              <a:srgbClr val="F1E7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9793224" y="4416552"/>
            <a:ext cx="11384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41F3C"/>
                </a:solidFill>
              </a:rPr>
              <a:t>Açúcar residual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88736" y="4846320"/>
            <a:ext cx="932688" cy="310896"/>
          </a:xfrm>
          <a:prstGeom prst="roundRect">
            <a:avLst>
              <a:gd name="adj" fmla="val 47059"/>
            </a:avLst>
          </a:prstGeom>
          <a:solidFill>
            <a:srgbClr val="F7F1F3"/>
          </a:solidFill>
          <a:ln w="12700">
            <a:solidFill>
              <a:srgbClr val="F7F1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961888" y="4892040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25482"/>
                </a:solidFill>
              </a:rPr>
              <a:t>Cloretos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31152" y="4846320"/>
            <a:ext cx="982980" cy="310896"/>
          </a:xfrm>
          <a:prstGeom prst="roundRect">
            <a:avLst>
              <a:gd name="adj" fmla="val 47059"/>
            </a:avLst>
          </a:prstGeom>
          <a:solidFill>
            <a:srgbClr val="F7F1F3"/>
          </a:solidFill>
          <a:ln w="12700">
            <a:solidFill>
              <a:srgbClr val="F7F1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7004304" y="4892040"/>
            <a:ext cx="8366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25482"/>
                </a:solidFill>
              </a:rPr>
              <a:t>SO₂ livre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23860" y="4846320"/>
            <a:ext cx="982980" cy="310896"/>
          </a:xfrm>
          <a:prstGeom prst="roundRect">
            <a:avLst>
              <a:gd name="adj" fmla="val 47059"/>
            </a:avLst>
          </a:prstGeom>
          <a:solidFill>
            <a:srgbClr val="F1E7EA"/>
          </a:solidFill>
          <a:ln w="12700">
            <a:solidFill>
              <a:srgbClr val="F1E7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8097012" y="4892040"/>
            <a:ext cx="8366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41F3C"/>
                </a:solidFill>
              </a:rPr>
              <a:t>SO₂ total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116568" y="4846320"/>
            <a:ext cx="982980" cy="310896"/>
          </a:xfrm>
          <a:prstGeom prst="roundRect">
            <a:avLst>
              <a:gd name="adj" fmla="val 47059"/>
            </a:avLst>
          </a:prstGeom>
          <a:solidFill>
            <a:srgbClr val="F7F1F3"/>
          </a:solidFill>
          <a:ln w="12700">
            <a:solidFill>
              <a:srgbClr val="F7F1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9189720" y="4892040"/>
            <a:ext cx="8366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25482"/>
                </a:solidFill>
              </a:rPr>
              <a:t>Densidade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209276" y="4846320"/>
            <a:ext cx="786384" cy="310896"/>
          </a:xfrm>
          <a:prstGeom prst="roundRect">
            <a:avLst>
              <a:gd name="adj" fmla="val 47059"/>
            </a:avLst>
          </a:prstGeom>
          <a:solidFill>
            <a:srgbClr val="F7F1F3"/>
          </a:solidFill>
          <a:ln w="12700">
            <a:solidFill>
              <a:srgbClr val="F7F1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10282428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25482"/>
                </a:solidFill>
              </a:rPr>
              <a:t>pH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888736" y="5321808"/>
            <a:ext cx="932688" cy="310896"/>
          </a:xfrm>
          <a:prstGeom prst="roundRect">
            <a:avLst>
              <a:gd name="adj" fmla="val 47059"/>
            </a:avLst>
          </a:prstGeom>
          <a:solidFill>
            <a:srgbClr val="F1E7EA"/>
          </a:solidFill>
          <a:ln w="12700">
            <a:solidFill>
              <a:srgbClr val="F1E7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5961888" y="536752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41F3C"/>
                </a:solidFill>
              </a:rPr>
              <a:t>Sulfatos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31152" y="5321808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F7F1F3"/>
          </a:solidFill>
          <a:ln w="12700">
            <a:solidFill>
              <a:srgbClr val="F7F1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7004304" y="5367528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25482"/>
                </a:solidFill>
              </a:rPr>
              <a:t>Teor alcoólico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63640" y="652881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dirty="0">
                <a:solidFill>
                  <a:srgbClr val="756D70"/>
                </a:solidFill>
              </a:rPr>
              <a:t>Fonte: WineQT.csv e tratamento realizado no notebook do projeto.</a:t>
            </a:r>
            <a:endParaRPr lang="en-US" sz="72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2560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6D7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A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principal desafio da base é o desbalanceamento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756D70"/>
                </a:solidFill>
              </a:rPr>
              <a:t>A classe de alta qualidade aparece em apenas 13,46% das amostras.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6903720" cy="5102352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/mnt/data/wine_deck/assets/distribuicao_classes.png"/>
          <p:cNvPicPr>
            <a:picLocks noChangeAspect="1"/>
          </p:cNvPicPr>
          <p:nvPr/>
        </p:nvPicPr>
        <p:blipFill>
          <a:blip r:embed="rId3"/>
          <a:srcRect l="2000" t="16000" r="19130" b="6000"/>
          <a:stretch/>
        </p:blipFill>
        <p:spPr>
          <a:xfrm>
            <a:off x="713232" y="1572768"/>
            <a:ext cx="6620256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99248" y="1335024"/>
            <a:ext cx="3895344" cy="5102352"/>
          </a:xfrm>
          <a:prstGeom prst="roundRect">
            <a:avLst>
              <a:gd name="adj" fmla="val 1878"/>
            </a:avLst>
          </a:prstGeom>
          <a:solidFill>
            <a:srgbClr val="4A1024"/>
          </a:solidFill>
          <a:ln w="12700">
            <a:solidFill>
              <a:srgbClr val="4A1024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101584" y="1773936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29A4A"/>
                </a:solidFill>
              </a:rPr>
              <a:t>13,46%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101584" y="259689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dos vinhos são de alta qualidade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11312" y="3218688"/>
            <a:ext cx="2743200" cy="0"/>
          </a:xfrm>
          <a:prstGeom prst="line">
            <a:avLst/>
          </a:prstGeom>
          <a:noFill/>
          <a:ln w="19050">
            <a:solidFill>
              <a:srgbClr val="C47A8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101584" y="3456432"/>
            <a:ext cx="2971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4E8EC"/>
                </a:solidFill>
              </a:rPr>
              <a:t>1 vinho de alta qualidade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4E8EC"/>
                </a:solidFill>
              </a:rPr>
              <a:t>para cada 6,43 das demais classes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065008" y="44439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9A4A"/>
                </a:solidFill>
              </a:rPr>
              <a:t>Implicação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65008" y="4773168"/>
            <a:ext cx="3127248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FFFFFF"/>
                </a:solidFill>
              </a:rPr>
              <a:t>A acurácia isolada poderia mascarar um modelo incapaz de identificar a classe rara.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8065008" y="56509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9A4A"/>
                </a:solidFill>
              </a:rPr>
              <a:t>Resposta adotada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65008" y="59344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EEDDE2"/>
                </a:solidFill>
              </a:rPr>
              <a:t>Divisão estratificada, ponderação das classes e foco em recall, F1 e ROC-AUC.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6263640" y="652881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dirty="0">
                <a:solidFill>
                  <a:srgbClr val="756D70"/>
                </a:solidFill>
              </a:rPr>
              <a:t>Fonte: análise exploratória do projeto.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2560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6D7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A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 análise exploratória, quatro variáveis se destacaram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756D70"/>
                </a:solidFill>
              </a:rPr>
              <a:t>Correlações com a classe de alta qualidade ajudam a formular hipóteses - não provam causalidade.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21792" y="141732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7007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1024"/>
                </a:solidFill>
              </a:rPr>
              <a:t>Correlação com alta qualidade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145536" y="2258568"/>
            <a:ext cx="0" cy="2606040"/>
          </a:xfrm>
          <a:prstGeom prst="line">
            <a:avLst/>
          </a:prstGeom>
          <a:noFill/>
          <a:ln w="15240">
            <a:solidFill>
              <a:srgbClr val="756D70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145536" y="2359152"/>
            <a:ext cx="1912010" cy="329184"/>
          </a:xfrm>
          <a:prstGeom prst="roundRect">
            <a:avLst>
              <a:gd name="adj" fmla="val 16667"/>
            </a:avLst>
          </a:prstGeom>
          <a:solidFill>
            <a:srgbClr val="741F3C"/>
          </a:solidFill>
          <a:ln w="12700">
            <a:solidFill>
              <a:srgbClr val="741F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32688" y="242316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60" dirty="0">
                <a:solidFill>
                  <a:srgbClr val="30282B"/>
                </a:solidFill>
              </a:rPr>
              <a:t>Teor alcoólico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5130698" y="24231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41F3C"/>
                </a:solidFill>
              </a:rPr>
              <a:t>+0.41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46504" y="3054096"/>
            <a:ext cx="1399032" cy="329184"/>
          </a:xfrm>
          <a:prstGeom prst="roundRect">
            <a:avLst>
              <a:gd name="adj" fmla="val 16667"/>
            </a:avLst>
          </a:prstGeom>
          <a:solidFill>
            <a:srgbClr val="725482"/>
          </a:solidFill>
          <a:ln w="12700">
            <a:solidFill>
              <a:srgbClr val="7254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819656" y="3118104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Acidez volátil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243584" y="31181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25482"/>
                </a:solidFill>
              </a:rPr>
              <a:t>-0.30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45536" y="3749040"/>
            <a:ext cx="1119226" cy="329184"/>
          </a:xfrm>
          <a:prstGeom prst="roundRect">
            <a:avLst>
              <a:gd name="adj" fmla="val 16667"/>
            </a:avLst>
          </a:prstGeom>
          <a:solidFill>
            <a:srgbClr val="963852"/>
          </a:solidFill>
          <a:ln w="12700">
            <a:solidFill>
              <a:srgbClr val="9638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32688" y="3813048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60" dirty="0">
                <a:solidFill>
                  <a:srgbClr val="30282B"/>
                </a:solidFill>
              </a:rPr>
              <a:t>Ácido cítrico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4337914" y="38130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63852"/>
                </a:solidFill>
              </a:rPr>
              <a:t>+0.24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45536" y="4443984"/>
            <a:ext cx="979322" cy="329184"/>
          </a:xfrm>
          <a:prstGeom prst="roundRect">
            <a:avLst>
              <a:gd name="adj" fmla="val 16667"/>
            </a:avLst>
          </a:prstGeom>
          <a:solidFill>
            <a:srgbClr val="C47A8A"/>
          </a:solidFill>
          <a:ln w="12700">
            <a:solidFill>
              <a:srgbClr val="C47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32688" y="4507992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60" dirty="0">
                <a:solidFill>
                  <a:srgbClr val="30282B"/>
                </a:solidFill>
              </a:rPr>
              <a:t>Sulfatos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4198010" y="45079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47A8A"/>
                </a:solidFill>
              </a:rPr>
              <a:t>+0.21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52395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41F3C"/>
                </a:solidFill>
              </a:rPr>
              <a:t>Leitura executiva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515721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756D70"/>
                </a:solidFill>
              </a:rPr>
              <a:t>Maior teor alcoólico tende a acompanhar notas mais altas; acidez volátil aparece em sentido oposto.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336792" y="1417320"/>
            <a:ext cx="523951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656832" y="17007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1024"/>
                </a:solidFill>
              </a:rPr>
              <a:t>Visão completa das relações</a:t>
            </a:r>
            <a:endParaRPr lang="en-US" sz="1550" dirty="0"/>
          </a:p>
        </p:txBody>
      </p:sp>
      <p:pic>
        <p:nvPicPr>
          <p:cNvPr id="23" name="Image 0" descr="/mnt/data/wine_deck/assets/matriz_correlacao.png"/>
          <p:cNvPicPr>
            <a:picLocks noChangeAspect="1"/>
          </p:cNvPicPr>
          <p:nvPr/>
        </p:nvPicPr>
        <p:blipFill>
          <a:blip r:embed="rId3"/>
          <a:srcRect l="2000" t="10000" r="-2308" b="8000"/>
          <a:stretch/>
        </p:blipFill>
        <p:spPr>
          <a:xfrm>
            <a:off x="6620256" y="2139696"/>
            <a:ext cx="4663440" cy="32461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7059168" y="5486400"/>
            <a:ext cx="3712464" cy="310896"/>
          </a:xfrm>
          <a:prstGeom prst="roundRect">
            <a:avLst>
              <a:gd name="adj" fmla="val 47059"/>
            </a:avLst>
          </a:prstGeom>
          <a:solidFill>
            <a:srgbClr val="F7F1F3"/>
          </a:solidFill>
          <a:ln w="12700">
            <a:solidFill>
              <a:srgbClr val="F7F1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7132320" y="55321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41F3C"/>
                </a:solidFill>
              </a:rPr>
              <a:t>Matriz completa disponível em results/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263640" y="652881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dirty="0">
                <a:solidFill>
                  <a:srgbClr val="756D70"/>
                </a:solidFill>
              </a:rPr>
              <a:t>Fonte: matriz de correlação de Pearson do projeto.</a:t>
            </a:r>
            <a:endParaRPr lang="en-US" sz="7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2560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6D7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A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seleção privilegiou identificar a classe rara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756D70"/>
                </a:solidFill>
              </a:rPr>
              <a:t>Foram comparados quatro algoritmos e um baseline com validação cruzada estratificada.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7552944" cy="5138928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/mnt/data/wine_deck/assets/comparacao_mode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9669"/>
            <a:ext cx="7132320" cy="434391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39328" y="1325880"/>
            <a:ext cx="3273552" cy="5138928"/>
          </a:xfrm>
          <a:prstGeom prst="roundRect">
            <a:avLst>
              <a:gd name="adj" fmla="val 2235"/>
            </a:avLst>
          </a:prstGeom>
          <a:solidFill>
            <a:srgbClr val="4A1024"/>
          </a:solidFill>
          <a:ln w="12700">
            <a:solidFill>
              <a:srgbClr val="4A1024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8842248" y="1664208"/>
            <a:ext cx="2267712" cy="310896"/>
          </a:xfrm>
          <a:prstGeom prst="roundRect">
            <a:avLst>
              <a:gd name="adj" fmla="val 47059"/>
            </a:avLst>
          </a:prstGeom>
          <a:solidFill>
            <a:srgbClr val="741F3C"/>
          </a:solidFill>
          <a:ln w="12700">
            <a:solidFill>
              <a:srgbClr val="741F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915400" y="1709928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MODELO ESCOLHIDO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732520" y="2157984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Regressão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Logística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8668512" y="325526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C29A4A"/>
                </a:solidFill>
              </a:rPr>
              <a:t>82,7%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8732520" y="37764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1DDE3"/>
                </a:solidFill>
              </a:rPr>
              <a:t>recall na validação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8887968" y="4279392"/>
            <a:ext cx="2194560" cy="0"/>
          </a:xfrm>
          <a:prstGeom prst="line">
            <a:avLst/>
          </a:prstGeom>
          <a:noFill/>
          <a:ln w="17780">
            <a:solidFill>
              <a:srgbClr val="C47A8A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705088" y="4526280"/>
            <a:ext cx="256032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FFFFFF"/>
                </a:solidFill>
              </a:rPr>
              <a:t>O baseline atingiu 86,5% de acurácia, mas não reconheceu nenhum vinho de alta qualidade.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8741664" y="5577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29A4A"/>
                </a:solidFill>
              </a:rPr>
              <a:t>Conclusão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710928" y="5522976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EEDDE2"/>
                </a:solidFill>
              </a:rPr>
              <a:t>Acurácia sozinha não seria suficiente.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6263640" y="652881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dirty="0">
                <a:solidFill>
                  <a:srgbClr val="756D70"/>
                </a:solidFill>
              </a:rPr>
              <a:t>Fonte: validação cruzada estratificada do projeto.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2560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6D7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A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modelo final manteve desempenho estável em dados não vistos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756D70"/>
                </a:solidFill>
              </a:rPr>
              <a:t>A diferença máxima entre validação e teste foi de 4,95 pontos percentuais.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03504" y="1325880"/>
            <a:ext cx="21488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03504" y="1325880"/>
            <a:ext cx="73152" cy="1389888"/>
          </a:xfrm>
          <a:prstGeom prst="rect">
            <a:avLst/>
          </a:prstGeom>
          <a:solidFill>
            <a:srgbClr val="741F3C"/>
          </a:solidFill>
          <a:ln w="12700">
            <a:solidFill>
              <a:srgbClr val="741F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04672" y="1472184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41F3C"/>
                </a:solidFill>
              </a:rPr>
              <a:t>88,11%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4672" y="1956816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0282B"/>
                </a:solidFill>
              </a:rPr>
              <a:t>ROC-AUC no teste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04672" y="228600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756D70"/>
                </a:solidFill>
              </a:rPr>
              <a:t>Boa capacidade de separar as classes.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916936" y="1325880"/>
            <a:ext cx="21488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916936" y="1325880"/>
            <a:ext cx="73152" cy="1389888"/>
          </a:xfrm>
          <a:prstGeom prst="rect">
            <a:avLst/>
          </a:prstGeom>
          <a:solidFill>
            <a:srgbClr val="C29A4A"/>
          </a:solidFill>
          <a:ln w="12700">
            <a:solidFill>
              <a:srgbClr val="C29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118104" y="1472184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29A4A"/>
                </a:solidFill>
              </a:rPr>
              <a:t>77,78%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18104" y="1956816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0282B"/>
                </a:solidFill>
              </a:rPr>
              <a:t>Recall no teste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118104" y="228600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756D70"/>
                </a:solidFill>
              </a:rPr>
              <a:t>Identifica a maioria dos vinhos de alta qualidade.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230368" y="1325880"/>
            <a:ext cx="21488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230368" y="1325880"/>
            <a:ext cx="73152" cy="1389888"/>
          </a:xfrm>
          <a:prstGeom prst="rect">
            <a:avLst/>
          </a:prstGeom>
          <a:solidFill>
            <a:srgbClr val="725482"/>
          </a:solidFill>
          <a:ln w="12700">
            <a:solidFill>
              <a:srgbClr val="7254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31536" y="1472184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25482"/>
                </a:solidFill>
              </a:rPr>
              <a:t>49,41%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31536" y="1956816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0282B"/>
                </a:solidFill>
              </a:rPr>
              <a:t>F1-score no teste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431536" y="228600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756D70"/>
                </a:solidFill>
              </a:rPr>
              <a:t>Equilíbrio entre identificação e falsos alertas.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543800" y="1325880"/>
            <a:ext cx="21488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543800" y="1325880"/>
            <a:ext cx="73152" cy="1389888"/>
          </a:xfrm>
          <a:prstGeom prst="rect">
            <a:avLst/>
          </a:prstGeom>
          <a:solidFill>
            <a:srgbClr val="C47A8A"/>
          </a:solidFill>
          <a:ln w="12700">
            <a:solidFill>
              <a:srgbClr val="C47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44968" y="1472184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47A8A"/>
                </a:solidFill>
              </a:rPr>
              <a:t>78,92%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744968" y="1956816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0282B"/>
                </a:solidFill>
              </a:rPr>
              <a:t>Acurácia no teste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744968" y="2286000"/>
            <a:ext cx="183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756D70"/>
                </a:solidFill>
              </a:rPr>
              <a:t>Resultado global de classificações corretas.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857232" y="1325880"/>
            <a:ext cx="171907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857232" y="1325880"/>
            <a:ext cx="73152" cy="1389888"/>
          </a:xfrm>
          <a:prstGeom prst="rect">
            <a:avLst/>
          </a:prstGeom>
          <a:solidFill>
            <a:srgbClr val="A84553"/>
          </a:solidFill>
          <a:ln w="12700">
            <a:solidFill>
              <a:srgbClr val="A845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058400" y="1472184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A84553"/>
                </a:solidFill>
              </a:rPr>
              <a:t>36,21%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058400" y="1956816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0282B"/>
                </a:solidFill>
              </a:rPr>
              <a:t>Precisão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0058400" y="2286000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756D70"/>
                </a:solidFill>
              </a:rPr>
              <a:t>Muitos falsos positivos.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03504" y="2953512"/>
            <a:ext cx="7461504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" name="Image 0" descr="/mnt/data/wine_deck/assets/curva_roc.png"/>
          <p:cNvPicPr>
            <a:picLocks noChangeAspect="1"/>
          </p:cNvPicPr>
          <p:nvPr/>
        </p:nvPicPr>
        <p:blipFill>
          <a:blip r:embed="rId3"/>
          <a:srcRect l="2000" t="14000" r="-37598" b="7000"/>
          <a:stretch/>
        </p:blipFill>
        <p:spPr>
          <a:xfrm>
            <a:off x="822960" y="3163824"/>
            <a:ext cx="7022592" cy="2898648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8302752" y="2953512"/>
            <a:ext cx="3273552" cy="3364992"/>
          </a:xfrm>
          <a:prstGeom prst="roundRect">
            <a:avLst>
              <a:gd name="adj" fmla="val 2235"/>
            </a:avLst>
          </a:prstGeom>
          <a:solidFill>
            <a:srgbClr val="4A1024"/>
          </a:solidFill>
          <a:ln w="12700">
            <a:solidFill>
              <a:srgbClr val="4A1024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8650224" y="33101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Leitura executiva</a:t>
            </a:r>
            <a:endParaRPr 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8650224" y="3767328"/>
            <a:ext cx="256032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10" b="1" dirty="0">
                <a:solidFill>
                  <a:srgbClr val="F3E5E9"/>
                </a:solidFill>
              </a:rPr>
              <a:t>O modelo separa bem os grupos e encontra a maior parte dos vinhos de alta qualidade.</a:t>
            </a:r>
            <a:endParaRPr lang="en-US" sz="1310" dirty="0"/>
          </a:p>
        </p:txBody>
      </p:sp>
      <p:sp>
        <p:nvSpPr>
          <p:cNvPr id="34" name="Text 31"/>
          <p:cNvSpPr/>
          <p:nvPr/>
        </p:nvSpPr>
        <p:spPr>
          <a:xfrm>
            <a:off x="8650224" y="4901184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C29A4A"/>
                </a:solidFill>
              </a:rPr>
              <a:t>Trade-off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8650224" y="5212080"/>
            <a:ext cx="25603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 menor precisão gera alertas adicionais, compatíveis com um uso de triagem, desde que submetidos à revisão humana.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263640" y="652881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dirty="0">
                <a:solidFill>
                  <a:srgbClr val="756D70"/>
                </a:solidFill>
              </a:rPr>
              <a:t>Fonte: conjunto de teste reservado (204 amostras).</a:t>
            </a:r>
            <a:endParaRPr lang="en-US" sz="72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2560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6D7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A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modelo encontrou 21 dos 27 vinhos de alta qualidade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756D70"/>
                </a:solidFill>
              </a:rPr>
              <a:t>A matriz de confusão transforma as métricas em decisões concretas.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7059168" cy="5138928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/mnt/data/wine_deck/assets/matriz_confusao.png"/>
          <p:cNvPicPr>
            <a:picLocks noChangeAspect="1"/>
          </p:cNvPicPr>
          <p:nvPr/>
        </p:nvPicPr>
        <p:blipFill>
          <a:blip r:embed="rId3"/>
          <a:srcRect l="2000" t="14000" r="7764" b="6000"/>
          <a:stretch/>
        </p:blipFill>
        <p:spPr>
          <a:xfrm>
            <a:off x="749808" y="1572768"/>
            <a:ext cx="6693408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82128" y="1325880"/>
            <a:ext cx="362102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7882128" y="1325880"/>
            <a:ext cx="73152" cy="1280160"/>
          </a:xfrm>
          <a:prstGeom prst="rect">
            <a:avLst/>
          </a:prstGeom>
          <a:solidFill>
            <a:srgbClr val="507A5A"/>
          </a:solidFill>
          <a:ln w="12700">
            <a:solidFill>
              <a:srgbClr val="507A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083296" y="1472184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507A5A"/>
                </a:solidFill>
              </a:rPr>
              <a:t>21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083296" y="1956816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0282B"/>
                </a:solidFill>
              </a:rPr>
              <a:t>altas qualidades identificadas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8083296" y="228600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756D70"/>
                </a:solidFill>
              </a:rPr>
              <a:t>Verdadeiros positivos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7882128" y="2770632"/>
            <a:ext cx="362102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882128" y="2770632"/>
            <a:ext cx="73152" cy="1280160"/>
          </a:xfrm>
          <a:prstGeom prst="rect">
            <a:avLst/>
          </a:prstGeom>
          <a:solidFill>
            <a:srgbClr val="A84553"/>
          </a:solidFill>
          <a:ln w="12700">
            <a:solidFill>
              <a:srgbClr val="A845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083296" y="2916936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A84553"/>
                </a:solidFill>
              </a:rPr>
              <a:t>6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083296" y="3401568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0282B"/>
                </a:solidFill>
              </a:rPr>
              <a:t>altas qualidades não identificadas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8083296" y="373075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756D70"/>
                </a:solidFill>
              </a:rPr>
              <a:t>Falsos negativos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7882128" y="4215384"/>
            <a:ext cx="362102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7882128" y="4215384"/>
            <a:ext cx="73152" cy="1280160"/>
          </a:xfrm>
          <a:prstGeom prst="rect">
            <a:avLst/>
          </a:prstGeom>
          <a:solidFill>
            <a:srgbClr val="C47A8A"/>
          </a:solidFill>
          <a:ln w="12700">
            <a:solidFill>
              <a:srgbClr val="C47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083296" y="4361688"/>
            <a:ext cx="3310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47A8A"/>
                </a:solidFill>
              </a:rPr>
              <a:t>37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083296" y="484632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30282B"/>
                </a:solidFill>
              </a:rPr>
              <a:t>vinhos sinalizados a mais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8083296" y="517550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756D70"/>
                </a:solidFill>
              </a:rPr>
              <a:t>Falsos positivos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7882128" y="5650992"/>
            <a:ext cx="3621024" cy="713232"/>
          </a:xfrm>
          <a:prstGeom prst="roundRect">
            <a:avLst>
              <a:gd name="adj" fmla="val 10256"/>
            </a:avLst>
          </a:prstGeom>
          <a:solidFill>
            <a:srgbClr val="4A1024"/>
          </a:solidFill>
          <a:ln w="12700">
            <a:solidFill>
              <a:srgbClr val="4A10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8138160" y="58338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Uso recomendado: triagem, não aprovação automática.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6263640" y="652881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dirty="0">
                <a:solidFill>
                  <a:srgbClr val="756D70"/>
                </a:solidFill>
              </a:rPr>
              <a:t>Fonte: previsões do conjunto de teste.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2560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6D7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A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Teor alcoólico e sulfatos elevam a chance estimada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756D70"/>
                </a:solidFill>
              </a:rPr>
              <a:t>Os coeficientes indicam direção e intensidade da associação no modelo final.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7909560" cy="5138928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/mnt/data/wine_deck/assets/coeficientes_modelo.png"/>
          <p:cNvPicPr>
            <a:picLocks noChangeAspect="1"/>
          </p:cNvPicPr>
          <p:nvPr/>
        </p:nvPicPr>
        <p:blipFill>
          <a:blip r:embed="rId3"/>
          <a:srcRect l="2000" t="12000" r="12417" b="6000"/>
          <a:stretch/>
        </p:blipFill>
        <p:spPr>
          <a:xfrm>
            <a:off x="786384" y="1554480"/>
            <a:ext cx="7479792" cy="46451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05088" y="1325880"/>
            <a:ext cx="2880360" cy="2267712"/>
          </a:xfrm>
          <a:prstGeom prst="roundRect">
            <a:avLst>
              <a:gd name="adj" fmla="val 3226"/>
            </a:avLst>
          </a:prstGeom>
          <a:solidFill>
            <a:srgbClr val="F5EAED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9015984" y="1645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41F3C"/>
                </a:solidFill>
              </a:rPr>
              <a:t>Associações positivas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42832" y="2029968"/>
            <a:ext cx="2286000" cy="12070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0282B"/>
                </a:solidFill>
              </a:rPr>
              <a:t>Teor alcoólico: OR 2,33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0282B"/>
                </a:solidFill>
              </a:rPr>
              <a:t>Sulfatos: OR 2,08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0282B"/>
                </a:solidFill>
              </a:rPr>
              <a:t>Acidez fixa: OR 1,94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8705088" y="3767328"/>
            <a:ext cx="2880360" cy="1874520"/>
          </a:xfrm>
          <a:prstGeom prst="roundRect">
            <a:avLst>
              <a:gd name="adj" fmla="val 3902"/>
            </a:avLst>
          </a:prstGeom>
          <a:solidFill>
            <a:srgbClr val="EFE9F1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9015984" y="40782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25482"/>
                </a:solidFill>
              </a:rPr>
              <a:t>Associações negativas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42832" y="4462272"/>
            <a:ext cx="22860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0282B"/>
                </a:solidFill>
              </a:rPr>
              <a:t>Densidade: OR 0,46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0282B"/>
                </a:solidFill>
              </a:rPr>
              <a:t>SO₂ total: OR 0,56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0282B"/>
                </a:solidFill>
              </a:rPr>
              <a:t>Acidez volátil: OR 0,56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8833104" y="5870448"/>
            <a:ext cx="2615184" cy="310896"/>
          </a:xfrm>
          <a:prstGeom prst="roundRect">
            <a:avLst>
              <a:gd name="adj" fmla="val 47059"/>
            </a:avLst>
          </a:prstGeom>
          <a:solidFill>
            <a:srgbClr val="4A1024"/>
          </a:solidFill>
          <a:ln w="12700">
            <a:solidFill>
              <a:srgbClr val="4A10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906256" y="59161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Associação preditiva ≠ causalidade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63640" y="652881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dirty="0">
                <a:solidFill>
                  <a:srgbClr val="756D70"/>
                </a:solidFill>
              </a:rPr>
              <a:t>Fonte: coeficientes padronizados da Regressão Logística.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2560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6D7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4A10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Recomendação: usar o modelo como filtro de apoio ao controle de qualidade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50392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756D70"/>
                </a:solidFill>
              </a:rPr>
              <a:t>Próximo passo é validar o desempenho em novos lotes e incorporar variáveis produtivas.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285292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1248" y="1755648"/>
            <a:ext cx="530352" cy="530352"/>
          </a:xfrm>
          <a:prstGeom prst="ellipse">
            <a:avLst/>
          </a:prstGeom>
          <a:solidFill>
            <a:srgbClr val="741F3C"/>
          </a:solidFill>
          <a:ln w="12700">
            <a:solidFill>
              <a:srgbClr val="741F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41248" y="189280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36192" y="18105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1024"/>
                </a:solidFill>
              </a:rPr>
              <a:t>1. Triar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523744"/>
            <a:ext cx="23317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10" dirty="0">
                <a:solidFill>
                  <a:srgbClr val="30282B"/>
                </a:solidFill>
              </a:rPr>
              <a:t>Aplicar o modelo às análises físico-químicas de novos lotes.</a:t>
            </a:r>
            <a:endParaRPr lang="en-US" sz="1110" dirty="0"/>
          </a:p>
        </p:txBody>
      </p:sp>
      <p:sp>
        <p:nvSpPr>
          <p:cNvPr id="9" name="Shape 7"/>
          <p:cNvSpPr/>
          <p:nvPr/>
        </p:nvSpPr>
        <p:spPr>
          <a:xfrm>
            <a:off x="3538728" y="2542032"/>
            <a:ext cx="256032" cy="0"/>
          </a:xfrm>
          <a:prstGeom prst="line">
            <a:avLst/>
          </a:prstGeom>
          <a:noFill/>
          <a:ln w="31750">
            <a:solidFill>
              <a:srgbClr val="C29A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867912" y="1481328"/>
            <a:ext cx="285292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069080" y="1755648"/>
            <a:ext cx="530352" cy="530352"/>
          </a:xfrm>
          <a:prstGeom prst="ellipse">
            <a:avLst/>
          </a:prstGeom>
          <a:solidFill>
            <a:srgbClr val="C29A4A"/>
          </a:solidFill>
          <a:ln w="12700">
            <a:solidFill>
              <a:srgbClr val="C29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069080" y="189280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64024" y="18105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1024"/>
                </a:solidFill>
              </a:rPr>
              <a:t>2. Confirmar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123944" y="2523744"/>
            <a:ext cx="23317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10" dirty="0">
                <a:solidFill>
                  <a:srgbClr val="30282B"/>
                </a:solidFill>
              </a:rPr>
              <a:t>Priorizar avaliação sensorial dos lotes sinalizados.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6766560" y="2542032"/>
            <a:ext cx="256032" cy="0"/>
          </a:xfrm>
          <a:prstGeom prst="line">
            <a:avLst/>
          </a:prstGeom>
          <a:noFill/>
          <a:ln w="31750">
            <a:solidFill>
              <a:srgbClr val="C29A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095744" y="1481328"/>
            <a:ext cx="285292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296912" y="1755648"/>
            <a:ext cx="530352" cy="530352"/>
          </a:xfrm>
          <a:prstGeom prst="ellipse">
            <a:avLst/>
          </a:prstGeom>
          <a:solidFill>
            <a:srgbClr val="725482"/>
          </a:solidFill>
          <a:ln w="12700">
            <a:solidFill>
              <a:srgbClr val="7254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296912" y="189280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91856" y="18105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1024"/>
                </a:solidFill>
              </a:rPr>
              <a:t>3. Aprender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51776" y="2523744"/>
            <a:ext cx="23317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10" dirty="0">
                <a:solidFill>
                  <a:srgbClr val="30282B"/>
                </a:solidFill>
              </a:rPr>
              <a:t>Comparar previsão e resultado real para recalibrar o modelo.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640080" y="3977640"/>
            <a:ext cx="7278624" cy="1965960"/>
          </a:xfrm>
          <a:prstGeom prst="roundRect">
            <a:avLst>
              <a:gd name="adj" fmla="val 3721"/>
            </a:avLst>
          </a:prstGeom>
          <a:solidFill>
            <a:srgbClr val="4A1024"/>
          </a:solidFill>
          <a:ln w="12700">
            <a:solidFill>
              <a:srgbClr val="4A1024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60120" y="43159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Limitações que orientam o uso responsável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" y="4754880"/>
            <a:ext cx="63550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F3E8EB"/>
                </a:solidFill>
              </a:rPr>
              <a:t>Apenas 27 vinhos de alta qualidade no teste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F3E8EB"/>
                </a:solidFill>
              </a:rPr>
              <a:t>Precisão de 36,21% gera falsos alertas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F3E8EB"/>
                </a:solidFill>
              </a:rPr>
              <a:t>Base não contém safra, região, uva ou processo produtivo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83880" y="397764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DADD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485632" y="426110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1024"/>
                </a:solidFill>
              </a:rPr>
              <a:t>Repositório do projeto</a:t>
            </a:r>
            <a:endParaRPr lang="en-US" sz="1350" dirty="0"/>
          </a:p>
        </p:txBody>
      </p:sp>
      <p:pic>
        <p:nvPicPr>
          <p:cNvPr id="26" name="Image 0" descr="/mnt/data/wine_deck/assets/github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90288"/>
            <a:ext cx="1133856" cy="1133856"/>
          </a:xfrm>
          <a:prstGeom prst="rect">
            <a:avLst/>
          </a:prstGeom>
        </p:spPr>
      </p:pic>
      <p:sp>
        <p:nvSpPr>
          <p:cNvPr id="27" name="Text 24">
            <a:hlinkClick r:id="rId4"/>
          </p:cNvPr>
          <p:cNvSpPr/>
          <p:nvPr/>
        </p:nvSpPr>
        <p:spPr>
          <a:xfrm>
            <a:off x="9765792" y="4681728"/>
            <a:ext cx="150876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u="sng" dirty="0">
                <a:solidFill>
                  <a:srgbClr val="741F3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github.com/SaturninoRM372790/</a:t>
            </a:r>
            <a:endParaRPr lang="en-US" sz="860" dirty="0"/>
          </a:p>
          <a:p>
            <a:pPr marL="0" indent="0">
              <a:buNone/>
            </a:pPr>
            <a:r>
              <a:rPr lang="en-US" sz="860" u="sng" dirty="0">
                <a:solidFill>
                  <a:srgbClr val="741F3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Tech-challenge_fase2_vinhos_EDMAR_SUELLEN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6263640" y="652881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dirty="0">
                <a:solidFill>
                  <a:srgbClr val="756D70"/>
                </a:solidFill>
              </a:rPr>
              <a:t>Fontes: WineQT, notebook e resultados do grupo; enunciado FIAP.</a:t>
            </a:r>
            <a:endParaRPr lang="en-US" sz="72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2560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6D7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OCID" val="2f6eac72-4ac6-4136-b180-89726a0d813f"/>
  <p:tag name="CLASSIFICATIONTAGSETID" val="e16409a7-1700-4153-9090-3955bc2f0ae8"/>
  <p:tag name="CLASSIFICATION" val="Interno"/>
  <p:tag name="COMPLIANCETAGSETID" val="f14fc1f1-8950-40d5-8a29-45909da947d6"/>
  <p:tag name="FILEID" val="2f6eac72-4ac6-4136-b180-89726a0d813f"/>
  <p:tag name="USERID" val="EDMAR Saturnino César F120138"/>
  <p:tag name="TAGDATETIME" val="2026-07-14T20:50:49Z"/>
  <p:tag name="GVDATA" val="eyJPUyI6IldpbmRvd3MiLCJkb2NJRCI6IjJmNmVhYzcyLTRhYzYtNDEzNi1iMTgwLTg5NzI2YTBkODEzZiIsImRvY1N0YXRlIjoie1wiQ3VycmVudFN0YXRlXCI6XCJ7XFxcIkZpcnN0UGFnZURpZmZlcmVudFxcXCI6ZmFsc2UsXFxcIkRpZmZlcmVudE9kZEFuZEV2"/>
  <p:tag name="GVDATA0" val="ZW5QYWdlc1xcXCI6ZmFsc2UsXFxcIlBhZ2VDb3VudFxcXCI6MTAsXFxcIkhlYWRlck1ldGFkYXRhXFxcIjpcXFwiXFxcIixcXFwiVGhpcmRQYXJ0eUhlYWRlck1ldGFkYXRhXFxcIjpcXFwiXFxcIixcXFwiR1ZIZWFkZXJFeGlzdHNcXFwiOmZhbHNlLFxcXCJOb25H"/>
  <p:tag name="GVDATA1" val="VkhlYWRlckV4aXN0c1xcXCI6ZmFsc2UsXFxcIkZsb2F0aW5nSGVhZGVyRXhpc3RzXFxcIjpmYWxzZSxcXFwiTm9uR1ZIZWFkZXJTaGFwZUV4aXN0c1xcXCI6ZmFsc2UsXFxcIlRoaXJkUGFydHlIZWFkZXJzXFxcIjpbXSxcXFwiRm9vdGVyTWV0YWRhdGFcXFwiOlxc"/>
  <p:tag name="GVDATA2" val="XCI8c3Bhbj48c3Bhbj4mIzE2MDs8L3NwYW4+PHNwYW4gc3R5bGU9XFxcXFxcXCJ0ZXh0LWFsaWduOmNlbnRlclxcXFxcXFwiPkVzdGUgZG9jdW1lbnRvIGVzdMOhIGNsYXNzaWZpY2FkbyBjb21vOjxzcGFuIHN0eWxlPVxcXFxcXFwiY29sb3I6IzAwMDBmY1xcXFxc"/>
  <p:tag name="GVDATA3" val="XFwiPiBJbnRlcm5vPC9zcGFuPiAgICBcXFxcdFxcXFxuPC9zcGFuPjwvc3Bhbj5cXFwiLFxcXCJUaGlyZFBhcnR5Rm9vdGVyTWV0YWRhdGFcXFwiOlxcXCJcXFwiLFxcXCJHVkZvb3RlckV4aXN0c1xcXCI6ZmFsc2UsXFxcIk5vbkdWRm9vdGVyRXhpc3RzXFxcIjpm"/>
  <p:tag name="GVDATA4" val="YWxzZSxcXFwiRmxvYXRpbmdGb290ZXJFeGlzdHNcXFwiOmZhbHNlLFxcXCJOb25HVkZvb3RlclNoYXBlRXhpc3RzXFxcIjpmYWxzZSxcXFwiVGhpcmRQYXJ0eUZvb3RlcnNcXFwiOltdLFxcXCJXYXRlcm1hcmtNZXRhZGF0YVxcXCI6bnVsbCxcXFwiV2F0ZXJtYXJr"/>
  <p:tag name="GVDATA5" val="RXhpc3RzXFxcIjpmYWxzZSxcXFwiUG93ZXJwb2ludFRpdGxlTWV0YWRhdGFcXFwiOlxcXCJcXFwiLFxcXCJQb3dlcnBvaW50U3VidGl0bGVNZXRhZGF0YVxcXCI6XFxcIlxcXCIsXFxcIlRoaXJkUGFydHlNZXRhZGF0YUZvdW5kXFxcIjpmYWxzZX1cIixcIkZvb3Rl"/>
  <p:tag name="GVDATA6" val="clwiOlwiPHNwYW4+PHNwYW4+JiMxNjA7PC9zcGFuPjxzcGFuIHN0eWxlPVxcXCJ0ZXh0LWFsaWduOmNlbnRlclxcXCI+RXN0ZSBkb2N1bWVudG8gZXN0w6EgY2xhc3NpZmljYWRvIGNvbW86PHNwYW4gc3R5bGU9XFxcImNvbG9yOiMwMDAwZmNcXFwiPiBJbnRlcm5v"/>
  <p:tag name="GVDATA7" val="PC9zcGFuPiAgICBcXHRcXG48L3NwYW4+PC9zcGFuPlwiLFwiT3B0aW9uc1wiOlwie1xcXCJQb3B1cENvbmZpZ3VyYXRpb25cXFwiOntcXFwiQWx3YXlzU2hvd1BvcHVwXFxcIjpmYWxzZSxcXFwiRW5mb3JjZUhlYWRlckZvb3RlclR5cGVcXFwiOmZhbHNlLFxcXCJI"/>
  <p:tag name="GVDATA8" val="ZWFkZXJQbGFjZW1lbnRUeXBlXFxcIjowLFxcXCJGb290ZXJQbGFjZW1lbnRUeXBlXFxcIjowLFxcXCJFbmZvcmNlTGF5b3V0T3B0aW9uXFxcIjp0cnVlLFxcXCJMYXlvdXRPcHRpb25cXFwiOjAsXFxcIlRyaWdnZXJOdW1iZXJcXFwiOjEsXFxcIkZyb21JbmRleFxc"/>
  <p:tag name="GVDATA9" val="XCI6MCxcXFwiVG9JbmRleFxcXCI6MCxcXFwiRW5mb3JjZU92ZXJ3cml0ZU9wdGlvblxcXCI6dHJ1ZSxcXFwiT3ZlcndyaXRlT3B0aW9uXFxcIjpcXFwiYXBwZW5kXFxcIn0sXFxcIkhlYWRlckVuYWJsZWRcXFwiOmZhbHNlLFxcXCJIZWFkZXJcXFwiOlxcXCJcXFwi"/>
  <p:tag name="GVDATA10" val="LFxcXCJIZWFkZXJzXFxcIjpbXFxcIlxcXCJdLFxcXCJIZWFkZXJUeXBlXFxcIjoyLFxcXCJIZWFkZXJUeXBlc0FsbG93ZWRcXFwiOlsyXSxcXFwiSGVhZGVyVXBkYXRlVHlwZVxcXCI6MCxcXFwiRm9vdGVyRW5hYmxlZFxcXCI6dHJ1ZSxcXFwiRm9vdGVyXFxcIjpc"/>
  <p:tag name="GVDATA11" val="XFwiPHNwYW4+PHNwYW4+JiMxNjA7PC9zcGFuPjxzcGFuIHN0eWxlPVxcXFxcXFwidGV4dC1hbGlnbjpjZW50ZXJcXFxcXFxcIj5Fc3RlIGRvY3VtZW50byBlc3TDoSBjbGFzc2lmaWNhZG8gY29tbzo8c3BhbiBzdHlsZT1cXFxcXFxcImNvbG9yOiMwMDAwZmNcXFxc"/>
  <p:tag name="GVDATA12" val="XFxcIj4gSW50ZXJubzwvc3Bhbj4gICAgXFxcXHRcXFxcbjwvc3Bhbj48L3NwYW4+XFxcIixcXFwiRm9vdGVyc1xcXCI6W1xcXCI8c3Bhbj48c3Bhbj4mIzE2MDs8L3NwYW4+PHNwYW4gc3R5bGU9XFxcXFxcXCJ0ZXh0LWFsaWduOmNlbnRlclxcXFxcXFwiPkVzdGUg"/>
  <p:tag name="GVDATA13" val="ZG9jdW1lbnRvIGVzdMOhIGNsYXNzaWZpY2FkbyBjb21vOjxzcGFuIHN0eWxlPVxcXFxcXFwiY29sb3I6IzAwMDBmY1xcXFxcXFwiPiBJbnRlcm5vPC9zcGFuPiAgICBcXFxcdFxcXFxuPC9zcGFuPjwvc3Bhbj5cXFwiXSxcXFwiRm9vdGVyVHlwZVxcXCI6MCxcXFwi"/>
  <p:tag name="GVDATA14" val="Rm9vdGVyVHlwZXNBbGxvd2VkXFxcIjpbMCwxXSxcXFwiRm9vdGVyVXBkYXRlVHlwZVxcXCI6MSxcXFwiV2F0ZXJtYXJrXFxcIjpudWxsLFxcXCJXYXRlcm1hcmtFbmFibGVkXFxcIjpmYWxzZSxcXFwiU2hvdWxkV3JpdGVXYXRlcm1hcmtcXFwiOmZhbHNlLFxcXCJX"/>
  <p:tag name="GVDATA15" val="YXRlcm1hcmtVcGRhdGVUeXBlXFxcIjowLFxcXCJQb3dlcnBvaW50VGl0bGVcXFwiOlxcXCJcXFwiLFxcXCJQb3dlcnBvaW50U3ViaXRsZVxcXCI6XFxcIlxcXCJ9XCIsXCJTdGF0ZVwiOlwie1xcXCJGaXJzdFBhZ2VEaWZmZXJlbnRcXFwiOmZhbHNlLFxcXCJEaWZm"/>
  <p:tag name="GVDATA16" val="ZXJlbnRPZGRBbmRFdmVuUGFnZXNcXFwiOmZhbHNlLFxcXCJQYWdlQ291bnRcXFwiOjEwLFxcXCJIZWFkZXJNZXRhZGF0YVxcXCI6XFxcIlxcXCIsXFxcIlRoaXJkUGFydHlIZWFkZXJNZXRhZGF0YVxcXCI6XFxcIlxcXCIsXFxcIkdWSGVhZGVyRXhpc3RzXFxcIjpm"/>
  <p:tag name="GVDATA17" val="YWxzZSxcXFwiTm9uR1ZIZWFkZXJFeGlzdHNcXFwiOmZhbHNlLFxcXCJGbG9hdGluZ0hlYWRlckV4aXN0c1xcXCI6ZmFsc2UsXFxcIk5vbkdWSGVhZGVyU2hhcGVFeGlzdHNcXFwiOmZhbHNlLFxcXCJUaGlyZFBhcnR5SGVhZGVyc1xcXCI6W10sXFxcIkZvb3Rlck1l"/>
  <p:tag name="GVDATA18" val="dGFkYXRhXFxcIjpcXFwiPHNwYW4+PHNwYW4+JiMxNjA7PC9zcGFuPjxzcGFuIHN0eWxlPVxcXFxcXFwidGV4dC1hbGlnbjpjZW50ZXJcXFxcXFxcIj5Fc3RlIGRvY3VtZW50byBlc3TDoSBjbGFzc2lmaWNhZG8gY29tbzo8c3BhbiBzdHlsZT1cXFxcXFxcImNvbG9y"/>
  <p:tag name="GVDATA19" val="OiMwMDAwZmNcXFxcXFxcIj4gSW50ZXJubzwvc3Bhbj4gICAgXFxcXHRcXFxcbjwvc3Bhbj48L3NwYW4+XFxcIixcXFwiVGhpcmRQYXJ0eUZvb3Rlck1ldGFkYXRhXFxcIjpcXFwiXFxcIixcXFwiR1ZGb290ZXJFeGlzdHNcXFwiOmZhbHNlLFxcXCJOb25HVkZvb3Rl"/>
  <p:tag name="GVDATA20" val="ckV4aXN0c1xcXCI6ZmFsc2UsXFxcIkZsb2F0aW5nRm9vdGVyRXhpc3RzXFxcIjpmYWxzZSxcXFwiTm9uR1ZGb290ZXJTaGFwZUV4aXN0c1xcXCI6ZmFsc2UsXFxcIlRoaXJkUGFydHlGb290ZXJzXFxcIjpbXSxcXFwiV2F0ZXJtYXJrTWV0YWRhdGFcXFwiOm51bGws"/>
  <p:tag name="GVDATA21" val="XFxcIldhdGVybWFya0V4aXN0c1xcXCI6ZmFsc2UsXFxcIlBvd2VycG9pbnRUaXRsZU1ldGFkYXRhXFxcIjpcXFwiXFxcIixcXFwiUG93ZXJwb2ludFN1YnRpdGxlTWV0YWRhdGFcXFwiOlxcXCJcXFwiLFxcXCJUaGlyZFBhcnR5TWV0YWRhdGFGb3VuZFxcXCI6ZmFs"/>
  <p:tag name="GVDATA22" val="c2V9XCJ9IiwicGFyZW50TGluZUlkcyI6IltdIiwid3JpdHRlbktleXMiOiJbXCJDbGFzc2lmaWNhdGlvblwiLFwiQ2xhc3NpZmljYXRpb25UYWdTZXRJZFwiLFwiQ29tcGxpYW5jZVRhZ1NldElkXCIsXCJGaWxlSWRcIixcImd2ZG9jaWRcIixcIlRhZ0RhdGVUaW1l"/>
  <p:tag name="GVDATA23" val="XCIsXCJVc2VySWRcIl0iLCJub09mR3ZEYXRhRW50cmllcyI6IjI1IiwidGFnc2V0X2UxNjQwOWE3XzE3MDBfNDE1M185MDkwXzM5NTViYzJmMGFlOF9jbGFzc2lmaWNhdGlvbiI6IkdlbmVyYWwgQnVzaW5lc3MifQ=="/>
  <p:tag name="GVDATA24" val="(end)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1320</Words>
  <Application>Microsoft Office PowerPoint</Application>
  <PresentationFormat>Widescreen</PresentationFormat>
  <Paragraphs>187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 - Pós-Tech Data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Classificação da Qualidade de Vinhos</dc:title>
  <dc:subject>Tech Challenge Fase 2 - Classificação da Qualidade de Vinhos</dc:subject>
  <dc:creator>Edmar Saturnino César e Francisca Suellen Soares Barros</dc:creator>
  <cp:lastModifiedBy>EDMAR Saturnino César F120138</cp:lastModifiedBy>
  <cp:revision>1</cp:revision>
  <dcterms:created xsi:type="dcterms:W3CDTF">2026-07-12T19:57:08Z</dcterms:created>
  <dcterms:modified xsi:type="dcterms:W3CDTF">2026-07-14T20:59:45Z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ocid">
    <vt:lpwstr>2f6eac72-4ac6-4136-b180-89726a0d813f</vt:lpwstr>
  </property>
  <property fmtid="{D5CDD505-2E9C-101B-9397-08002B2CF9AE}" pid="3" name="ClassificationTagSetId">
    <vt:lpwstr>e16409a7-1700-4153-9090-3955bc2f0ae8</vt:lpwstr>
  </property>
  <property fmtid="{D5CDD505-2E9C-101B-9397-08002B2CF9AE}" pid="4" name="ComplianceTagSetId">
    <vt:lpwstr>f14fc1f1-8950-40d5-8a29-45909da947d6</vt:lpwstr>
  </property>
  <property fmtid="{D5CDD505-2E9C-101B-9397-08002B2CF9AE}" pid="5" name="FileId">
    <vt:lpwstr>2f6eac72-4ac6-4136-b180-89726a0d813f</vt:lpwstr>
  </property>
  <property fmtid="{D5CDD505-2E9C-101B-9397-08002B2CF9AE}" pid="6" name="UserId">
    <vt:lpwstr>EDMAR Saturnino César F120138</vt:lpwstr>
  </property>
  <property fmtid="{D5CDD505-2E9C-101B-9397-08002B2CF9AE}" pid="7" name="TagDateTime">
    <vt:lpwstr>2026-07-14T20:50:49Z</vt:lpwstr>
  </property>
  <property fmtid="{D5CDD505-2E9C-101B-9397-08002B2CF9AE}" pid="8" name="GVData">
    <vt:lpwstr>eyJPUyI6IldpbmRvd3MiLCJkb2NJRCI6IjJmNmVhYzcyLTRhYzYtNDEzNi1iMTgwLTg5NzI2YTBkODEzZiIsImRvY1N0YXRlIjoie1wiQ3VycmVudFN0YXRlXCI6XCJ7XFxcIkZpcnN0UGFnZURpZmZlcmVudFxcXCI6ZmFsc2UsXFxcIkRpZmZlcmVudE9kZEFuZEV2</vt:lpwstr>
  </property>
  <property fmtid="{D5CDD505-2E9C-101B-9397-08002B2CF9AE}" pid="9" name="GVData0">
    <vt:lpwstr>ZW5QYWdlc1xcXCI6ZmFsc2UsXFxcIlBhZ2VDb3VudFxcXCI6MTAsXFxcIkhlYWRlck1ldGFkYXRhXFxcIjpcXFwiXFxcIixcXFwiVGhpcmRQYXJ0eUhlYWRlck1ldGFkYXRhXFxcIjpcXFwiXFxcIixcXFwiR1ZIZWFkZXJFeGlzdHNcXFwiOmZhbHNlLFxcXCJOb25H</vt:lpwstr>
  </property>
  <property fmtid="{D5CDD505-2E9C-101B-9397-08002B2CF9AE}" pid="10" name="GVData1">
    <vt:lpwstr>VkhlYWRlckV4aXN0c1xcXCI6ZmFsc2UsXFxcIkZsb2F0aW5nSGVhZGVyRXhpc3RzXFxcIjpmYWxzZSxcXFwiTm9uR1ZIZWFkZXJTaGFwZUV4aXN0c1xcXCI6ZmFsc2UsXFxcIlRoaXJkUGFydHlIZWFkZXJzXFxcIjpbXSxcXFwiRm9vdGVyTWV0YWRhdGFcXFwiOlxc</vt:lpwstr>
  </property>
  <property fmtid="{D5CDD505-2E9C-101B-9397-08002B2CF9AE}" pid="11" name="GVData2">
    <vt:lpwstr>XCI8c3Bhbj48c3Bhbj4mIzE2MDs8L3NwYW4+PHNwYW4gc3R5bGU9XFxcXFxcXCJ0ZXh0LWFsaWduOmNlbnRlclxcXFxcXFwiPkVzdGUgZG9jdW1lbnRvIGVzdMOhIGNsYXNzaWZpY2FkbyBjb21vOjxzcGFuIHN0eWxlPVxcXFxcXFwiY29sb3I6IzAwMDBmY1xcXFxc</vt:lpwstr>
  </property>
  <property fmtid="{D5CDD505-2E9C-101B-9397-08002B2CF9AE}" pid="12" name="GVData3">
    <vt:lpwstr>XFwiPiBJbnRlcm5vPC9zcGFuPiAgICBcXFxcdFxcXFxuPC9zcGFuPjwvc3Bhbj5cXFwiLFxcXCJUaGlyZFBhcnR5Rm9vdGVyTWV0YWRhdGFcXFwiOlxcXCJcXFwiLFxcXCJHVkZvb3RlckV4aXN0c1xcXCI6ZmFsc2UsXFxcIk5vbkdWRm9vdGVyRXhpc3RzXFxcIjpm</vt:lpwstr>
  </property>
  <property fmtid="{D5CDD505-2E9C-101B-9397-08002B2CF9AE}" pid="13" name="GVData4">
    <vt:lpwstr>YWxzZSxcXFwiRmxvYXRpbmdGb290ZXJFeGlzdHNcXFwiOmZhbHNlLFxcXCJOb25HVkZvb3RlclNoYXBlRXhpc3RzXFxcIjpmYWxzZSxcXFwiVGhpcmRQYXJ0eUZvb3RlcnNcXFwiOltdLFxcXCJXYXRlcm1hcmtNZXRhZGF0YVxcXCI6bnVsbCxcXFwiV2F0ZXJtYXJr</vt:lpwstr>
  </property>
  <property fmtid="{D5CDD505-2E9C-101B-9397-08002B2CF9AE}" pid="14" name="GVData5">
    <vt:lpwstr>RXhpc3RzXFxcIjpmYWxzZSxcXFwiUG93ZXJwb2ludFRpdGxlTWV0YWRhdGFcXFwiOlxcXCJcXFwiLFxcXCJQb3dlcnBvaW50U3VidGl0bGVNZXRhZGF0YVxcXCI6XFxcIlxcXCIsXFxcIlRoaXJkUGFydHlNZXRhZGF0YUZvdW5kXFxcIjpmYWxzZX1cIixcIkZvb3Rl</vt:lpwstr>
  </property>
  <property fmtid="{D5CDD505-2E9C-101B-9397-08002B2CF9AE}" pid="15" name="GVData6">
    <vt:lpwstr>clwiOlwiPHNwYW4+PHNwYW4+JiMxNjA7PC9zcGFuPjxzcGFuIHN0eWxlPVxcXCJ0ZXh0LWFsaWduOmNlbnRlclxcXCI+RXN0ZSBkb2N1bWVudG8gZXN0w6EgY2xhc3NpZmljYWRvIGNvbW86PHNwYW4gc3R5bGU9XFxcImNvbG9yOiMwMDAwZmNcXFwiPiBJbnRlcm5v</vt:lpwstr>
  </property>
  <property fmtid="{D5CDD505-2E9C-101B-9397-08002B2CF9AE}" pid="16" name="GVData7">
    <vt:lpwstr>PC9zcGFuPiAgICBcXHRcXG48L3NwYW4+PC9zcGFuPlwiLFwiT3B0aW9uc1wiOlwie1xcXCJQb3B1cENvbmZpZ3VyYXRpb25cXFwiOntcXFwiQWx3YXlzU2hvd1BvcHVwXFxcIjpmYWxzZSxcXFwiRW5mb3JjZUhlYWRlckZvb3RlclR5cGVcXFwiOmZhbHNlLFxcXCJI</vt:lpwstr>
  </property>
  <property fmtid="{D5CDD505-2E9C-101B-9397-08002B2CF9AE}" pid="17" name="GVData8">
    <vt:lpwstr>ZWFkZXJQbGFjZW1lbnRUeXBlXFxcIjowLFxcXCJGb290ZXJQbGFjZW1lbnRUeXBlXFxcIjowLFxcXCJFbmZvcmNlTGF5b3V0T3B0aW9uXFxcIjp0cnVlLFxcXCJMYXlvdXRPcHRpb25cXFwiOjAsXFxcIlRyaWdnZXJOdW1iZXJcXFwiOjEsXFxcIkZyb21JbmRleFxc</vt:lpwstr>
  </property>
  <property fmtid="{D5CDD505-2E9C-101B-9397-08002B2CF9AE}" pid="18" name="GVData9">
    <vt:lpwstr>XCI6MCxcXFwiVG9JbmRleFxcXCI6MCxcXFwiRW5mb3JjZU92ZXJ3cml0ZU9wdGlvblxcXCI6dHJ1ZSxcXFwiT3ZlcndyaXRlT3B0aW9uXFxcIjpcXFwiYXBwZW5kXFxcIn0sXFxcIkhlYWRlckVuYWJsZWRcXFwiOmZhbHNlLFxcXCJIZWFkZXJcXFwiOlxcXCJcXFwi</vt:lpwstr>
  </property>
  <property fmtid="{D5CDD505-2E9C-101B-9397-08002B2CF9AE}" pid="19" name="GVData10">
    <vt:lpwstr>LFxcXCJIZWFkZXJzXFxcIjpbXFxcIlxcXCJdLFxcXCJIZWFkZXJUeXBlXFxcIjoyLFxcXCJIZWFkZXJUeXBlc0FsbG93ZWRcXFwiOlsyXSxcXFwiSGVhZGVyVXBkYXRlVHlwZVxcXCI6MCxcXFwiRm9vdGVyRW5hYmxlZFxcXCI6dHJ1ZSxcXFwiRm9vdGVyXFxcIjpc</vt:lpwstr>
  </property>
  <property fmtid="{D5CDD505-2E9C-101B-9397-08002B2CF9AE}" pid="20" name="GVData11">
    <vt:lpwstr>XFwiPHNwYW4+PHNwYW4+JiMxNjA7PC9zcGFuPjxzcGFuIHN0eWxlPVxcXFxcXFwidGV4dC1hbGlnbjpjZW50ZXJcXFxcXFxcIj5Fc3RlIGRvY3VtZW50byBlc3TDoSBjbGFzc2lmaWNhZG8gY29tbzo8c3BhbiBzdHlsZT1cXFxcXFxcImNvbG9yOiMwMDAwZmNcXFxc</vt:lpwstr>
  </property>
  <property fmtid="{D5CDD505-2E9C-101B-9397-08002B2CF9AE}" pid="21" name="GVData12">
    <vt:lpwstr>XFxcIj4gSW50ZXJubzwvc3Bhbj4gICAgXFxcXHRcXFxcbjwvc3Bhbj48L3NwYW4+XFxcIixcXFwiRm9vdGVyc1xcXCI6W1xcXCI8c3Bhbj48c3Bhbj4mIzE2MDs8L3NwYW4+PHNwYW4gc3R5bGU9XFxcXFxcXCJ0ZXh0LWFsaWduOmNlbnRlclxcXFxcXFwiPkVzdGUg</vt:lpwstr>
  </property>
  <property fmtid="{D5CDD505-2E9C-101B-9397-08002B2CF9AE}" pid="22" name="GVData13">
    <vt:lpwstr>ZG9jdW1lbnRvIGVzdMOhIGNsYXNzaWZpY2FkbyBjb21vOjxzcGFuIHN0eWxlPVxcXFxcXFwiY29sb3I6IzAwMDBmY1xcXFxcXFwiPiBJbnRlcm5vPC9zcGFuPiAgICBcXFxcdFxcXFxuPC9zcGFuPjwvc3Bhbj5cXFwiXSxcXFwiRm9vdGVyVHlwZVxcXCI6MCxcXFwi</vt:lpwstr>
  </property>
  <property fmtid="{D5CDD505-2E9C-101B-9397-08002B2CF9AE}" pid="23" name="GVData14">
    <vt:lpwstr>Rm9vdGVyVHlwZXNBbGxvd2VkXFxcIjpbMCwxXSxcXFwiRm9vdGVyVXBkYXRlVHlwZVxcXCI6MSxcXFwiV2F0ZXJtYXJrXFxcIjpudWxsLFxcXCJXYXRlcm1hcmtFbmFibGVkXFxcIjpmYWxzZSxcXFwiU2hvdWxkV3JpdGVXYXRlcm1hcmtcXFwiOmZhbHNlLFxcXCJX</vt:lpwstr>
  </property>
  <property fmtid="{D5CDD505-2E9C-101B-9397-08002B2CF9AE}" pid="24" name="GVData15">
    <vt:lpwstr>YXRlcm1hcmtVcGRhdGVUeXBlXFxcIjowLFxcXCJQb3dlcnBvaW50VGl0bGVcXFwiOlxcXCJcXFwiLFxcXCJQb3dlcnBvaW50U3ViaXRsZVxcXCI6XFxcIlxcXCJ9XCIsXCJTdGF0ZVwiOlwie1xcXCJGaXJzdFBhZ2VEaWZmZXJlbnRcXFwiOmZhbHNlLFxcXCJEaWZm</vt:lpwstr>
  </property>
  <property fmtid="{D5CDD505-2E9C-101B-9397-08002B2CF9AE}" pid="25" name="GVData16">
    <vt:lpwstr>ZXJlbnRPZGRBbmRFdmVuUGFnZXNcXFwiOmZhbHNlLFxcXCJQYWdlQ291bnRcXFwiOjEwLFxcXCJIZWFkZXJNZXRhZGF0YVxcXCI6XFxcIlxcXCIsXFxcIlRoaXJkUGFydHlIZWFkZXJNZXRhZGF0YVxcXCI6XFxcIlxcXCIsXFxcIkdWSGVhZGVyRXhpc3RzXFxcIjpm</vt:lpwstr>
  </property>
  <property fmtid="{D5CDD505-2E9C-101B-9397-08002B2CF9AE}" pid="26" name="GVData17">
    <vt:lpwstr>YWxzZSxcXFwiTm9uR1ZIZWFkZXJFeGlzdHNcXFwiOmZhbHNlLFxcXCJGbG9hdGluZ0hlYWRlckV4aXN0c1xcXCI6ZmFsc2UsXFxcIk5vbkdWSGVhZGVyU2hhcGVFeGlzdHNcXFwiOmZhbHNlLFxcXCJUaGlyZFBhcnR5SGVhZGVyc1xcXCI6W10sXFxcIkZvb3Rlck1l</vt:lpwstr>
  </property>
  <property fmtid="{D5CDD505-2E9C-101B-9397-08002B2CF9AE}" pid="27" name="GVData18">
    <vt:lpwstr>dGFkYXRhXFxcIjpcXFwiPHNwYW4+PHNwYW4+JiMxNjA7PC9zcGFuPjxzcGFuIHN0eWxlPVxcXFxcXFwidGV4dC1hbGlnbjpjZW50ZXJcXFxcXFxcIj5Fc3RlIGRvY3VtZW50byBlc3TDoSBjbGFzc2lmaWNhZG8gY29tbzo8c3BhbiBzdHlsZT1cXFxcXFxcImNvbG9y</vt:lpwstr>
  </property>
  <property fmtid="{D5CDD505-2E9C-101B-9397-08002B2CF9AE}" pid="28" name="GVData19">
    <vt:lpwstr>OiMwMDAwZmNcXFxcXFxcIj4gSW50ZXJubzwvc3Bhbj4gICAgXFxcXHRcXFxcbjwvc3Bhbj48L3NwYW4+XFxcIixcXFwiVGhpcmRQYXJ0eUZvb3Rlck1ldGFkYXRhXFxcIjpcXFwiXFxcIixcXFwiR1ZGb290ZXJFeGlzdHNcXFwiOmZhbHNlLFxcXCJOb25HVkZvb3Rl</vt:lpwstr>
  </property>
  <property fmtid="{D5CDD505-2E9C-101B-9397-08002B2CF9AE}" pid="29" name="GVData20">
    <vt:lpwstr>ckV4aXN0c1xcXCI6ZmFsc2UsXFxcIkZsb2F0aW5nRm9vdGVyRXhpc3RzXFxcIjpmYWxzZSxcXFwiTm9uR1ZGb290ZXJTaGFwZUV4aXN0c1xcXCI6ZmFsc2UsXFxcIlRoaXJkUGFydHlGb290ZXJzXFxcIjpbXSxcXFwiV2F0ZXJtYXJrTWV0YWRhdGFcXFwiOm51bGws</vt:lpwstr>
  </property>
  <property fmtid="{D5CDD505-2E9C-101B-9397-08002B2CF9AE}" pid="30" name="Classification">
    <vt:lpwstr>Interno</vt:lpwstr>
  </property>
  <property fmtid="{D5CDD505-2E9C-101B-9397-08002B2CF9AE}" pid="31" name="GVData21">
    <vt:lpwstr>XFxcIldhdGVybWFya0V4aXN0c1xcXCI6ZmFsc2UsXFxcIlBvd2VycG9pbnRUaXRsZU1ldGFkYXRhXFxcIjpcXFwiXFxcIixcXFwiUG93ZXJwb2ludFN1YnRpdGxlTWV0YWRhdGFcXFwiOlxcXCJcXFwiLFxcXCJUaGlyZFBhcnR5TWV0YWRhdGFGb3VuZFxcXCI6ZmFs</vt:lpwstr>
  </property>
  <property fmtid="{D5CDD505-2E9C-101B-9397-08002B2CF9AE}" pid="32" name="GVData22">
    <vt:lpwstr>c2V9XCJ9IiwicGFyZW50TGluZUlkcyI6IltdIiwid3JpdHRlbktleXMiOiJbXCJDbGFzc2lmaWNhdGlvblwiLFwiQ2xhc3NpZmljYXRpb25UYWdTZXRJZFwiLFwiQ29tcGxpYW5jZVRhZ1NldElkXCIsXCJGaWxlSWRcIixcImd2ZG9jaWRcIixcIlRhZ0RhdGVUaW1l</vt:lpwstr>
  </property>
  <property fmtid="{D5CDD505-2E9C-101B-9397-08002B2CF9AE}" pid="33" name="GVData23">
    <vt:lpwstr>XCIsXCJVc2VySWRcIl0iLCJub09mR3ZEYXRhRW50cmllcyI6IjI1IiwidGFnc2V0X2UxNjQwOWE3XzE3MDBfNDE1M185MDkwXzM5NTViYzJmMGFlOF9jbGFzc2lmaWNhdGlvbiI6IkdlbmVyYWwgQnVzaW5lc3MifQ==</vt:lpwstr>
  </property>
  <property fmtid="{D5CDD505-2E9C-101B-9397-08002B2CF9AE}" pid="34" name="GVData24">
    <vt:lpwstr>(end)</vt:lpwstr>
  </property>
</Properties>
</file>